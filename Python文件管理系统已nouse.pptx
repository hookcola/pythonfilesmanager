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MiSans" panose="02010600030101010101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3" autoAdjust="0"/>
  </p:normalViewPr>
  <p:slideViewPr>
    <p:cSldViewPr snapToGrid="0" snapToObjects="1">
      <p:cViewPr varScale="1">
        <p:scale>
          <a:sx n="104" d="100"/>
          <a:sy n="104" d="100"/>
        </p:scale>
        <p:origin x="21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3" d="100"/>
          <a:sy n="63" d="100"/>
        </p:scale>
        <p:origin x="3720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79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https://kimi-img.moonshot.cn/pub/slides/slides_tmpl/image/25-09-05-13:18:13-d2t755dnfo2stf9dihs0.jpg">
            <a:extLst>
              <a:ext uri="{FF2B5EF4-FFF2-40B4-BE49-F238E27FC236}">
                <a16:creationId xmlns:a16="http://schemas.microsoft.com/office/drawing/2014/main" id="{CA1E4B56-ACF1-6FE7-BFA8-BD445C9016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501"/>
                    </a14:imgEffect>
                  </a14:imgLayer>
                </a14:imgProps>
              </a:ext>
            </a:extLst>
          </a:blip>
          <a:srcRect t="16" b="16"/>
          <a:stretch/>
        </p:blipFill>
        <p:spPr>
          <a:xfrm>
            <a:off x="0" y="3426"/>
            <a:ext cx="12191999" cy="6864626"/>
          </a:xfrm>
          <a:prstGeom prst="rect">
            <a:avLst/>
          </a:prstGeom>
          <a:noFill/>
        </p:spPr>
      </p:pic>
      <p:pic>
        <p:nvPicPr>
          <p:cNvPr id="5" name="图片 4" descr="图片包含 图标&#10;&#10;AI 生成的内容可能不正确。">
            <a:extLst>
              <a:ext uri="{FF2B5EF4-FFF2-40B4-BE49-F238E27FC236}">
                <a16:creationId xmlns:a16="http://schemas.microsoft.com/office/drawing/2014/main" id="{2102A3D0-F264-C7B2-040D-34C32FF75E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516" b="89844" l="4004" r="89844">
                        <a14:foregroundMark x1="25977" y1="23145" x2="25977" y2="23145"/>
                        <a14:foregroundMark x1="31055" y1="6641" x2="31055" y2="6641"/>
                        <a14:foregroundMark x1="21875" y1="12305" x2="21875" y2="12305"/>
                        <a14:foregroundMark x1="21191" y1="12402" x2="21191" y2="12402"/>
                        <a14:foregroundMark x1="21191" y1="12402" x2="21191" y2="12402"/>
                        <a14:foregroundMark x1="21094" y1="12891" x2="21094" y2="12891"/>
                        <a14:foregroundMark x1="21094" y1="13184" x2="21094" y2="13184"/>
                        <a14:foregroundMark x1="8691" y1="25293" x2="8691" y2="25293"/>
                        <a14:foregroundMark x1="8691" y1="25293" x2="8691" y2="25293"/>
                        <a14:foregroundMark x1="8887" y1="25684" x2="8887" y2="25684"/>
                        <a14:foregroundMark x1="8887" y1="25684" x2="8887" y2="25684"/>
                        <a14:foregroundMark x1="8203" y1="30078" x2="8203" y2="30078"/>
                        <a14:foregroundMark x1="8203" y1="30078" x2="8203" y2="30078"/>
                        <a14:foregroundMark x1="4004" y1="24219" x2="4004" y2="24219"/>
                        <a14:foregroundMark x1="4004" y1="24316" x2="4004" y2="24316"/>
                        <a14:foregroundMark x1="20996" y1="3516" x2="20996" y2="3516"/>
                        <a14:foregroundMark x1="31055" y1="14355" x2="31055" y2="14355"/>
                        <a14:foregroundMark x1="31152" y1="15625" x2="31152" y2="15625"/>
                        <a14:foregroundMark x1="31152" y1="15625" x2="31152" y2="15625"/>
                        <a14:foregroundMark x1="30957" y1="18750" x2="30957" y2="18750"/>
                        <a14:foregroundMark x1="30957" y1="18750" x2="30957" y2="18750"/>
                        <a14:foregroundMark x1="29883" y1="20117" x2="29883" y2="20117"/>
                        <a14:foregroundMark x1="29883" y1="20117" x2="29883" y2="20117"/>
                        <a14:foregroundMark x1="26953" y1="21582" x2="26953" y2="21582"/>
                        <a14:foregroundMark x1="26953" y1="21582" x2="26953" y2="21582"/>
                        <a14:foregroundMark x1="20215" y1="30957" x2="20215" y2="30957"/>
                        <a14:foregroundMark x1="20215" y1="31055" x2="20215" y2="31055"/>
                        <a14:foregroundMark x1="20020" y1="35449" x2="20020" y2="35449"/>
                        <a14:foregroundMark x1="20020" y1="35449" x2="20020" y2="35449"/>
                        <a14:foregroundMark x1="20898" y1="38086" x2="18066" y2="28809"/>
                        <a14:foregroundMark x1="18848" y1="29297" x2="31543" y2="10645"/>
                        <a14:foregroundMark x1="11513" y1="15867" x2="9277" y2="29492"/>
                        <a14:foregroundMark x1="12402" y1="10449" x2="11857" y2="13770"/>
                        <a14:backgroundMark x1="14063" y1="13770" x2="14063" y2="13770"/>
                        <a14:backgroundMark x1="11328" y1="15039" x2="11328" y2="15039"/>
                        <a14:backgroundMark x1="11328" y1="15234" x2="11328" y2="15234"/>
                        <a14:backgroundMark x1="11426" y1="15234" x2="11426" y2="15234"/>
                        <a14:backgroundMark x1="11426" y1="15039" x2="11816" y2="15039"/>
                        <a14:backgroundMark x1="12109" y1="14746" x2="11426" y2="14746"/>
                        <a14:backgroundMark x1="12109" y1="14648" x2="11523" y2="15234"/>
                        <a14:backgroundMark x1="12598" y1="14844" x2="11035" y2="152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982" y="97567"/>
            <a:ext cx="936636" cy="9366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74C33F80-65B8-AC58-A4F0-3C89764021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3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028" r="1028"/>
          <a:stretch/>
        </p:blipFill>
        <p:spPr>
          <a:xfrm>
            <a:off x="0" y="3426"/>
            <a:ext cx="12191999" cy="6864626"/>
          </a:xfrm>
          <a:prstGeom prst="rect">
            <a:avLst/>
          </a:prstGeom>
          <a:noFill/>
          <a:effectLst>
            <a:outerShdw blurRad="12700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226650" y="1034203"/>
            <a:ext cx="6706332" cy="2274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</a:p>
          <a:p>
            <a:pPr>
              <a:lnSpc>
                <a:spcPct val="100000"/>
              </a:lnSpc>
            </a:pPr>
            <a:r>
              <a:rPr lang="en-US" altLang="zh-CN" sz="5400" b="1" dirty="0" err="1">
                <a:solidFill>
                  <a:srgbClr val="FFF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FileManager</a:t>
            </a:r>
            <a:endParaRPr lang="en-US" altLang="zh-CN" sz="5400" b="1" dirty="0">
              <a:solidFill>
                <a:srgbClr val="FFFF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文件管理系统  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第七组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 descr="图片包含 图标&#10;&#10;AI 生成的内容可能不正确。">
            <a:extLst>
              <a:ext uri="{FF2B5EF4-FFF2-40B4-BE49-F238E27FC236}">
                <a16:creationId xmlns:a16="http://schemas.microsoft.com/office/drawing/2014/main" id="{714ABB63-1924-8ED5-AC85-6F9E7FF8C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516" b="89844" l="4004" r="89844">
                        <a14:foregroundMark x1="25977" y1="23145" x2="25977" y2="23145"/>
                        <a14:foregroundMark x1="31055" y1="6641" x2="31055" y2="6641"/>
                        <a14:foregroundMark x1="21875" y1="12305" x2="21875" y2="12305"/>
                        <a14:foregroundMark x1="21191" y1="12402" x2="21191" y2="12402"/>
                        <a14:foregroundMark x1="21191" y1="12402" x2="21191" y2="12402"/>
                        <a14:foregroundMark x1="21094" y1="12891" x2="21094" y2="12891"/>
                        <a14:foregroundMark x1="21094" y1="13184" x2="21094" y2="13184"/>
                        <a14:foregroundMark x1="8691" y1="25293" x2="8691" y2="25293"/>
                        <a14:foregroundMark x1="8691" y1="25293" x2="8691" y2="25293"/>
                        <a14:foregroundMark x1="8887" y1="25684" x2="8887" y2="25684"/>
                        <a14:foregroundMark x1="8887" y1="25684" x2="8887" y2="25684"/>
                        <a14:foregroundMark x1="8203" y1="30078" x2="8203" y2="30078"/>
                        <a14:foregroundMark x1="8203" y1="30078" x2="8203" y2="30078"/>
                        <a14:foregroundMark x1="4004" y1="24219" x2="4004" y2="24219"/>
                        <a14:foregroundMark x1="4004" y1="24316" x2="4004" y2="24316"/>
                        <a14:foregroundMark x1="20996" y1="3516" x2="20996" y2="3516"/>
                        <a14:foregroundMark x1="31055" y1="14355" x2="31055" y2="14355"/>
                        <a14:foregroundMark x1="31152" y1="15625" x2="31152" y2="15625"/>
                        <a14:foregroundMark x1="31152" y1="15625" x2="31152" y2="15625"/>
                        <a14:foregroundMark x1="30957" y1="18750" x2="30957" y2="18750"/>
                        <a14:foregroundMark x1="30957" y1="18750" x2="30957" y2="18750"/>
                        <a14:foregroundMark x1="29883" y1="20117" x2="29883" y2="20117"/>
                        <a14:foregroundMark x1="29883" y1="20117" x2="29883" y2="20117"/>
                        <a14:foregroundMark x1="26953" y1="21582" x2="26953" y2="21582"/>
                        <a14:foregroundMark x1="26953" y1="21582" x2="26953" y2="21582"/>
                        <a14:foregroundMark x1="20215" y1="30957" x2="20215" y2="30957"/>
                        <a14:foregroundMark x1="20215" y1="31055" x2="20215" y2="31055"/>
                        <a14:foregroundMark x1="20020" y1="35449" x2="20020" y2="35449"/>
                        <a14:foregroundMark x1="20020" y1="35449" x2="20020" y2="35449"/>
                        <a14:foregroundMark x1="20898" y1="38086" x2="18066" y2="28809"/>
                        <a14:foregroundMark x1="18848" y1="29297" x2="31543" y2="10645"/>
                        <a14:foregroundMark x1="11513" y1="15867" x2="9277" y2="29492"/>
                        <a14:foregroundMark x1="12402" y1="10449" x2="11857" y2="13770"/>
                        <a14:backgroundMark x1="14063" y1="13770" x2="14063" y2="13770"/>
                        <a14:backgroundMark x1="11328" y1="15039" x2="11328" y2="15039"/>
                        <a14:backgroundMark x1="11328" y1="15234" x2="11328" y2="15234"/>
                        <a14:backgroundMark x1="11426" y1="15234" x2="11426" y2="15234"/>
                        <a14:backgroundMark x1="11426" y1="15039" x2="11816" y2="15039"/>
                        <a14:backgroundMark x1="12109" y1="14746" x2="11426" y2="14746"/>
                        <a14:backgroundMark x1="12109" y1="14648" x2="11523" y2="15234"/>
                        <a14:backgroundMark x1="12598" y1="14844" x2="11035" y2="152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982" y="97567"/>
            <a:ext cx="936636" cy="9366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BC572E1-72C4-55F0-4FD2-E2646224D7D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3000"/>
          </a:blip>
          <a:stretch>
            <a:fillRect/>
          </a:stretch>
        </p:blipFill>
        <p:spPr>
          <a:xfrm>
            <a:off x="5018385" y="1639378"/>
            <a:ext cx="6535415" cy="3604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extLst>
              <a:ext uri="{FF2B5EF4-FFF2-40B4-BE49-F238E27FC236}">
                <a16:creationId xmlns:a16="http://schemas.microsoft.com/office/drawing/2014/main" id="{DCE7BDC0-4E4E-AD8D-8A72-C47608F07B16}"/>
              </a:ext>
            </a:extLst>
          </p:cNvPr>
          <p:cNvSpPr/>
          <p:nvPr/>
        </p:nvSpPr>
        <p:spPr>
          <a:xfrm>
            <a:off x="1127125" y="3894455"/>
            <a:ext cx="10111740" cy="1327785"/>
          </a:xfrm>
          <a:prstGeom prst="roundRect">
            <a:avLst>
              <a:gd name="adj" fmla="val 9612"/>
            </a:avLst>
          </a:prstGeom>
          <a:solidFill>
            <a:srgbClr val="000000">
              <a:alpha val="25882"/>
            </a:srgbClr>
          </a:solidFill>
          <a:ln w="3175">
            <a:solidFill>
              <a:srgbClr val="CAD8E2">
                <a:alpha val="54902"/>
              </a:srgbClr>
            </a:solidFill>
            <a:prstDash val="solid"/>
          </a:ln>
          <a:effectLst>
            <a:outerShdw blurRad="50800" dist="26941" dir="2700000" algn="bl" rotWithShape="0">
              <a:srgbClr val="754412">
                <a:alpha val="2117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0B62AB0C-F665-A7D5-6C08-E632C6E603CC}"/>
              </a:ext>
            </a:extLst>
          </p:cNvPr>
          <p:cNvSpPr/>
          <p:nvPr/>
        </p:nvSpPr>
        <p:spPr>
          <a:xfrm>
            <a:off x="1127125" y="2295525"/>
            <a:ext cx="10111740" cy="1327785"/>
          </a:xfrm>
          <a:prstGeom prst="roundRect">
            <a:avLst>
              <a:gd name="adj" fmla="val 13534"/>
            </a:avLst>
          </a:prstGeom>
          <a:solidFill>
            <a:srgbClr val="000000">
              <a:alpha val="25882"/>
            </a:srgbClr>
          </a:solidFill>
          <a:ln w="3175">
            <a:solidFill>
              <a:srgbClr val="CAD8E2">
                <a:alpha val="54902"/>
              </a:srgbClr>
            </a:solidFill>
            <a:prstDash val="solid"/>
          </a:ln>
          <a:effectLst>
            <a:outerShdw blurRad="50800" dist="26941" dir="2700000" algn="bl" rotWithShape="0">
              <a:srgbClr val="754412">
                <a:alpha val="2117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F4888F3E-09CC-4B3F-6CEE-CE8AEB1C5C2B}"/>
              </a:ext>
            </a:extLst>
          </p:cNvPr>
          <p:cNvSpPr/>
          <p:nvPr/>
        </p:nvSpPr>
        <p:spPr>
          <a:xfrm>
            <a:off x="1101725" y="63296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FE6CC173-26D1-A63E-7AE3-0328E43CE942}"/>
              </a:ext>
            </a:extLst>
          </p:cNvPr>
          <p:cNvSpPr/>
          <p:nvPr/>
        </p:nvSpPr>
        <p:spPr>
          <a:xfrm>
            <a:off x="1189355" y="63296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D42387C5-91D4-8C57-8C59-D0CF4683A8FA}"/>
              </a:ext>
            </a:extLst>
          </p:cNvPr>
          <p:cNvSpPr/>
          <p:nvPr/>
        </p:nvSpPr>
        <p:spPr>
          <a:xfrm>
            <a:off x="1277620" y="622490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0A367563-B339-8804-BF8D-186C8951D633}"/>
              </a:ext>
            </a:extLst>
          </p:cNvPr>
          <p:cNvSpPr/>
          <p:nvPr/>
        </p:nvSpPr>
        <p:spPr>
          <a:xfrm>
            <a:off x="1365250" y="63296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0F454036-36BB-AB4C-3832-8593F35A60FC}"/>
              </a:ext>
            </a:extLst>
          </p:cNvPr>
          <p:cNvSpPr/>
          <p:nvPr/>
        </p:nvSpPr>
        <p:spPr>
          <a:xfrm>
            <a:off x="1453515" y="63296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1A50B205-8952-13F0-D0E7-D810B7E7D2B3}"/>
              </a:ext>
            </a:extLst>
          </p:cNvPr>
          <p:cNvSpPr/>
          <p:nvPr/>
        </p:nvSpPr>
        <p:spPr>
          <a:xfrm flipH="1">
            <a:off x="11603721" y="8250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E8479392-D79C-FFDD-1283-748EA01ED02E}"/>
              </a:ext>
            </a:extLst>
          </p:cNvPr>
          <p:cNvSpPr/>
          <p:nvPr/>
        </p:nvSpPr>
        <p:spPr>
          <a:xfrm flipH="1">
            <a:off x="11475546" y="8250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43EDEE12-868D-4BF7-E782-7AEE7EDFA89E}"/>
              </a:ext>
            </a:extLst>
          </p:cNvPr>
          <p:cNvSpPr/>
          <p:nvPr/>
        </p:nvSpPr>
        <p:spPr>
          <a:xfrm flipH="1">
            <a:off x="11344532" y="8250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E93B5722-CB74-8DD0-0F51-362C2402D187}"/>
              </a:ext>
            </a:extLst>
          </p:cNvPr>
          <p:cNvSpPr/>
          <p:nvPr/>
        </p:nvSpPr>
        <p:spPr>
          <a:xfrm flipH="1">
            <a:off x="11213518" y="8250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F4C847E1-0083-7A81-F12A-D241B8101114}"/>
              </a:ext>
            </a:extLst>
          </p:cNvPr>
          <p:cNvSpPr/>
          <p:nvPr/>
        </p:nvSpPr>
        <p:spPr>
          <a:xfrm>
            <a:off x="1103842" y="743669"/>
            <a:ext cx="326001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19548747-FB69-52F5-2A7B-60F9FC9A2E90}"/>
              </a:ext>
            </a:extLst>
          </p:cNvPr>
          <p:cNvSpPr/>
          <p:nvPr/>
        </p:nvSpPr>
        <p:spPr>
          <a:xfrm>
            <a:off x="1209880" y="493526"/>
            <a:ext cx="1091646" cy="50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D6A652D0-021C-6C48-4028-ADDFDADFADAE}"/>
              </a:ext>
            </a:extLst>
          </p:cNvPr>
          <p:cNvSpPr/>
          <p:nvPr/>
        </p:nvSpPr>
        <p:spPr>
          <a:xfrm>
            <a:off x="1579245" y="2662555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0F2DBAD3-369C-1426-20F2-6C550C58F6DA}"/>
              </a:ext>
            </a:extLst>
          </p:cNvPr>
          <p:cNvSpPr/>
          <p:nvPr/>
        </p:nvSpPr>
        <p:spPr>
          <a:xfrm>
            <a:off x="4956810" y="2662555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899DD7D2-538C-3E68-8D03-515170231D3F}"/>
              </a:ext>
            </a:extLst>
          </p:cNvPr>
          <p:cNvSpPr/>
          <p:nvPr/>
        </p:nvSpPr>
        <p:spPr>
          <a:xfrm>
            <a:off x="8351520" y="2662555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E5507648-F7FC-7149-2870-71C30E6963D3}"/>
              </a:ext>
            </a:extLst>
          </p:cNvPr>
          <p:cNvSpPr/>
          <p:nvPr/>
        </p:nvSpPr>
        <p:spPr>
          <a:xfrm>
            <a:off x="1618615" y="4300220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62232709-F95D-47CA-4130-E0B22E2D5F97}"/>
              </a:ext>
            </a:extLst>
          </p:cNvPr>
          <p:cNvSpPr/>
          <p:nvPr/>
        </p:nvSpPr>
        <p:spPr>
          <a:xfrm>
            <a:off x="4996180" y="4300220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7AB513B5-C2E2-8949-67A2-892CFDEBE9DD}"/>
              </a:ext>
            </a:extLst>
          </p:cNvPr>
          <p:cNvSpPr/>
          <p:nvPr/>
        </p:nvSpPr>
        <p:spPr>
          <a:xfrm>
            <a:off x="8390890" y="4300220"/>
            <a:ext cx="87630" cy="594995"/>
          </a:xfrm>
          <a:prstGeom prst="rect">
            <a:avLst/>
          </a:prstGeom>
          <a:gradFill flip="none" rotWithShape="1">
            <a:gsLst>
              <a:gs pos="0">
                <a:srgbClr val="788A9D"/>
              </a:gs>
              <a:gs pos="25000">
                <a:srgbClr val="C6D4DE"/>
              </a:gs>
              <a:gs pos="75000">
                <a:srgbClr val="757D84"/>
              </a:gs>
              <a:gs pos="100000">
                <a:srgbClr val="09090D"/>
              </a:gs>
            </a:gsLst>
            <a:lin ang="18900000" scaled="1"/>
          </a:gradFill>
          <a:ln/>
          <a:effectLst>
            <a:outerShdw blurRad="145102" dist="50800" dir="2700000" algn="bl" rotWithShape="0">
              <a:srgbClr val="754412">
                <a:alpha val="76471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2" name="Image 1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9B945994-9D06-B2F4-5C73-B4F5DD7D8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2" b="982"/>
          <a:stretch/>
        </p:blipFill>
        <p:spPr>
          <a:xfrm>
            <a:off x="2113894" y="1548148"/>
            <a:ext cx="355600" cy="304800"/>
          </a:xfrm>
          <a:prstGeom prst="rect">
            <a:avLst/>
          </a:prstGeom>
        </p:spPr>
      </p:pic>
      <p:sp>
        <p:nvSpPr>
          <p:cNvPr id="63" name="Shape 19">
            <a:extLst>
              <a:ext uri="{FF2B5EF4-FFF2-40B4-BE49-F238E27FC236}">
                <a16:creationId xmlns:a16="http://schemas.microsoft.com/office/drawing/2014/main" id="{BBD66A97-A985-9E1F-1EDF-65BC9B3C20C2}"/>
              </a:ext>
            </a:extLst>
          </p:cNvPr>
          <p:cNvSpPr/>
          <p:nvPr/>
        </p:nvSpPr>
        <p:spPr>
          <a:xfrm>
            <a:off x="1791138" y="2542455"/>
            <a:ext cx="541714" cy="4737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2AF620BA-97A0-734B-9635-EBB211C5486A}"/>
              </a:ext>
            </a:extLst>
          </p:cNvPr>
          <p:cNvSpPr/>
          <p:nvPr/>
        </p:nvSpPr>
        <p:spPr>
          <a:xfrm>
            <a:off x="1791138" y="2542455"/>
            <a:ext cx="541714" cy="473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A3511247-4A0C-2D7E-0DBC-B3DE4D481C28}"/>
              </a:ext>
            </a:extLst>
          </p:cNvPr>
          <p:cNvSpPr/>
          <p:nvPr/>
        </p:nvSpPr>
        <p:spPr>
          <a:xfrm>
            <a:off x="1791138" y="2941734"/>
            <a:ext cx="30351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项目全景与进程规划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ECA59434-CA4F-2838-AABD-410626D49C0B}"/>
              </a:ext>
            </a:extLst>
          </p:cNvPr>
          <p:cNvSpPr/>
          <p:nvPr/>
        </p:nvSpPr>
        <p:spPr>
          <a:xfrm>
            <a:off x="5163540" y="2542455"/>
            <a:ext cx="541714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FE5B1778-45AE-3889-C2C2-BF69321725D7}"/>
              </a:ext>
            </a:extLst>
          </p:cNvPr>
          <p:cNvSpPr/>
          <p:nvPr/>
        </p:nvSpPr>
        <p:spPr>
          <a:xfrm>
            <a:off x="5163540" y="2542455"/>
            <a:ext cx="541714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3BF34BA4-6279-A880-A8DE-780A73EE0D0D}"/>
              </a:ext>
            </a:extLst>
          </p:cNvPr>
          <p:cNvSpPr/>
          <p:nvPr/>
        </p:nvSpPr>
        <p:spPr>
          <a:xfrm>
            <a:off x="5163540" y="2941734"/>
            <a:ext cx="30351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核心技术知识解析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E747CA6C-563F-32A7-3632-9BB01D5267FC}"/>
              </a:ext>
            </a:extLst>
          </p:cNvPr>
          <p:cNvSpPr/>
          <p:nvPr/>
        </p:nvSpPr>
        <p:spPr>
          <a:xfrm>
            <a:off x="8566490" y="2542455"/>
            <a:ext cx="541714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F0C112C0-98EC-8B38-0089-757CF4493B39}"/>
              </a:ext>
            </a:extLst>
          </p:cNvPr>
          <p:cNvSpPr/>
          <p:nvPr/>
        </p:nvSpPr>
        <p:spPr>
          <a:xfrm>
            <a:off x="8566490" y="2542455"/>
            <a:ext cx="541714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4095C498-B4C1-A33A-BAF1-2A7D63386F28}"/>
              </a:ext>
            </a:extLst>
          </p:cNvPr>
          <p:cNvSpPr/>
          <p:nvPr/>
        </p:nvSpPr>
        <p:spPr>
          <a:xfrm>
            <a:off x="8543926" y="2941443"/>
            <a:ext cx="257238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设计重点与工程价值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Shape 28">
            <a:extLst>
              <a:ext uri="{FF2B5EF4-FFF2-40B4-BE49-F238E27FC236}">
                <a16:creationId xmlns:a16="http://schemas.microsoft.com/office/drawing/2014/main" id="{AAD8F359-FF9B-575C-F3D2-31BFCD2AACFF}"/>
              </a:ext>
            </a:extLst>
          </p:cNvPr>
          <p:cNvSpPr/>
          <p:nvPr/>
        </p:nvSpPr>
        <p:spPr>
          <a:xfrm>
            <a:off x="1791138" y="4173916"/>
            <a:ext cx="541714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29">
            <a:extLst>
              <a:ext uri="{FF2B5EF4-FFF2-40B4-BE49-F238E27FC236}">
                <a16:creationId xmlns:a16="http://schemas.microsoft.com/office/drawing/2014/main" id="{B010F2A5-DC01-D979-489F-D80D269061C3}"/>
              </a:ext>
            </a:extLst>
          </p:cNvPr>
          <p:cNvSpPr/>
          <p:nvPr/>
        </p:nvSpPr>
        <p:spPr>
          <a:xfrm>
            <a:off x="1791138" y="4173916"/>
            <a:ext cx="541714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8BC346F4-1D5D-FA4E-E0F8-83200EE19408}"/>
              </a:ext>
            </a:extLst>
          </p:cNvPr>
          <p:cNvSpPr/>
          <p:nvPr/>
        </p:nvSpPr>
        <p:spPr>
          <a:xfrm>
            <a:off x="1791138" y="4573195"/>
            <a:ext cx="30351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技术难点与突破方案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80EF4525-F0C9-4C2D-3241-C22FFA6D6732}"/>
              </a:ext>
            </a:extLst>
          </p:cNvPr>
          <p:cNvSpPr/>
          <p:nvPr/>
        </p:nvSpPr>
        <p:spPr>
          <a:xfrm>
            <a:off x="5163540" y="4173916"/>
            <a:ext cx="541714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6F7DA1A1-1C57-7841-77C9-96A73E1A0897}"/>
              </a:ext>
            </a:extLst>
          </p:cNvPr>
          <p:cNvSpPr/>
          <p:nvPr/>
        </p:nvSpPr>
        <p:spPr>
          <a:xfrm>
            <a:off x="5163540" y="4173916"/>
            <a:ext cx="541714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E8FD8DAB-EE7E-0608-B6BD-8AC74B6493FE}"/>
              </a:ext>
            </a:extLst>
          </p:cNvPr>
          <p:cNvSpPr/>
          <p:nvPr/>
        </p:nvSpPr>
        <p:spPr>
          <a:xfrm>
            <a:off x="5163540" y="4573195"/>
            <a:ext cx="30351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关键模块实现揭秘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Shape 34">
            <a:extLst>
              <a:ext uri="{FF2B5EF4-FFF2-40B4-BE49-F238E27FC236}">
                <a16:creationId xmlns:a16="http://schemas.microsoft.com/office/drawing/2014/main" id="{B85F7BC0-81EF-A5A1-F6F0-32C356AA0F14}"/>
              </a:ext>
            </a:extLst>
          </p:cNvPr>
          <p:cNvSpPr/>
          <p:nvPr/>
        </p:nvSpPr>
        <p:spPr>
          <a:xfrm>
            <a:off x="8543630" y="4173916"/>
            <a:ext cx="541714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77E4D928-3A43-DA80-5D20-E21F27118F19}"/>
              </a:ext>
            </a:extLst>
          </p:cNvPr>
          <p:cNvSpPr/>
          <p:nvPr/>
        </p:nvSpPr>
        <p:spPr>
          <a:xfrm>
            <a:off x="8543630" y="4173916"/>
            <a:ext cx="541714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E3EB48D8-7839-E4E2-86CF-1117BAC1F407}"/>
              </a:ext>
            </a:extLst>
          </p:cNvPr>
          <p:cNvSpPr/>
          <p:nvPr/>
        </p:nvSpPr>
        <p:spPr>
          <a:xfrm>
            <a:off x="8543926" y="4573393"/>
            <a:ext cx="254571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实践收获与未来展望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项目全景与进程规划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3:18:16-d2t7565nfo2stf9dii5g.png">
            <a:extLst>
              <a:ext uri="{FF2B5EF4-FFF2-40B4-BE49-F238E27FC236}">
                <a16:creationId xmlns:a16="http://schemas.microsoft.com/office/drawing/2014/main" id="{94EE1444-FEE6-002F-961B-25E5520E2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4294" y="2009871"/>
            <a:ext cx="916940" cy="91694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5-13:18:16-d2t7565nfo2stf9dii5g.png">
            <a:extLst>
              <a:ext uri="{FF2B5EF4-FFF2-40B4-BE49-F238E27FC236}">
                <a16:creationId xmlns:a16="http://schemas.microsoft.com/office/drawing/2014/main" id="{C30F824A-E999-465E-9863-5900B8468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4294" y="4311111"/>
            <a:ext cx="916940" cy="916940"/>
          </a:xfrm>
          <a:prstGeom prst="rect">
            <a:avLst/>
          </a:prstGeom>
        </p:spPr>
      </p:pic>
      <p:sp>
        <p:nvSpPr>
          <p:cNvPr id="18" name="Shape 11">
            <a:extLst>
              <a:ext uri="{FF2B5EF4-FFF2-40B4-BE49-F238E27FC236}">
                <a16:creationId xmlns:a16="http://schemas.microsoft.com/office/drawing/2014/main" id="{6FC9A15E-2F4C-A2DB-4480-D4F4E76D49BB}"/>
              </a:ext>
            </a:extLst>
          </p:cNvPr>
          <p:cNvSpPr/>
          <p:nvPr/>
        </p:nvSpPr>
        <p:spPr>
          <a:xfrm>
            <a:off x="-864748" y="2137880"/>
            <a:ext cx="648286" cy="6427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C4C43A2-691B-FC95-2635-715B5D368B86}"/>
              </a:ext>
            </a:extLst>
          </p:cNvPr>
          <p:cNvSpPr/>
          <p:nvPr/>
        </p:nvSpPr>
        <p:spPr>
          <a:xfrm>
            <a:off x="-864748" y="2157400"/>
            <a:ext cx="648286" cy="64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D2776901-5DDC-68F5-A68D-5E2FB2895035}"/>
              </a:ext>
            </a:extLst>
          </p:cNvPr>
          <p:cNvSpPr/>
          <p:nvPr/>
        </p:nvSpPr>
        <p:spPr>
          <a:xfrm>
            <a:off x="-869692" y="4439120"/>
            <a:ext cx="648286" cy="6427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82F1182-3C70-DF96-A6DB-21EDBA982751}"/>
              </a:ext>
            </a:extLst>
          </p:cNvPr>
          <p:cNvSpPr/>
          <p:nvPr/>
        </p:nvSpPr>
        <p:spPr>
          <a:xfrm>
            <a:off x="-869692" y="4458640"/>
            <a:ext cx="648286" cy="64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01634" y="4173951"/>
            <a:ext cx="5351145" cy="2042795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035924" y="1868901"/>
            <a:ext cx="5351145" cy="2042795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系统定位与四周开发路线图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Image 2" descr="https://kimi-img.moonshot.cn/pub/slides/slides_tmpl/image/25-09-05-13:18:16-d2t7565nfo2stf9dii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984" y="2009871"/>
            <a:ext cx="916940" cy="91694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3:18:16-d2t7565nfo2stf9dii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984" y="4311111"/>
            <a:ext cx="916940" cy="91694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3:18:16-d2t7565nfo2stf9dii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104" y="2068926"/>
            <a:ext cx="223520" cy="32131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3:18:16-d2t7565nfo2stf9dii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104" y="4381596"/>
            <a:ext cx="223520" cy="32131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9-05-13:18:12-d2t7555nfo2stf9dihp0.png"/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63955" y="533400"/>
            <a:ext cx="355600" cy="304800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 flipH="1">
            <a:off x="1974215" y="73850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8"/>
          <p:cNvSpPr/>
          <p:nvPr/>
        </p:nvSpPr>
        <p:spPr>
          <a:xfrm flipH="1">
            <a:off x="1845945" y="73850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9"/>
          <p:cNvSpPr/>
          <p:nvPr/>
        </p:nvSpPr>
        <p:spPr>
          <a:xfrm flipH="1">
            <a:off x="1714500" y="73850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0"/>
          <p:cNvSpPr/>
          <p:nvPr/>
        </p:nvSpPr>
        <p:spPr>
          <a:xfrm flipH="1">
            <a:off x="1583690" y="73850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1"/>
          <p:cNvSpPr/>
          <p:nvPr/>
        </p:nvSpPr>
        <p:spPr>
          <a:xfrm>
            <a:off x="3131530" y="2137880"/>
            <a:ext cx="648286" cy="6427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Text 12"/>
          <p:cNvSpPr/>
          <p:nvPr/>
        </p:nvSpPr>
        <p:spPr>
          <a:xfrm>
            <a:off x="3131530" y="2157400"/>
            <a:ext cx="648286" cy="64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4327655" y="2068965"/>
            <a:ext cx="433116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项目背景与系统定位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4150294" y="2354303"/>
            <a:ext cx="5084324" cy="13345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本项目是一个基于命令行的文件管理系统，单文件实现（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`pythonfinal.py`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，共 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693 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行）。提供文件的创建、删除、重命名、复制、移动、搜索、统计、回收站机制（软删除 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+ 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可还原）。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3126586" y="4439120"/>
            <a:ext cx="648286" cy="6427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/>
          <p:cNvSpPr/>
          <p:nvPr/>
        </p:nvSpPr>
        <p:spPr>
          <a:xfrm>
            <a:off x="3126586" y="4458640"/>
            <a:ext cx="648286" cy="64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4327655" y="4381635"/>
            <a:ext cx="433116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四阶段迭代开发路线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4150296" y="4646481"/>
            <a:ext cx="5084322" cy="13345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第15周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1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次课：</a:t>
            </a:r>
            <a:r>
              <a:rPr lang="en-US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完成需求分析与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确定</a:t>
            </a:r>
            <a:r>
              <a:rPr lang="en-US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基础功能实现</a:t>
            </a:r>
            <a:r>
              <a:rPr 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；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第15周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次课：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完成基础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与核心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功能实现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；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第16周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次课：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完成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扩展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功能实现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第16周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次课：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系统测试撰写项目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PPT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，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Word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7-d2t756dnfo2stf9diiag.png"/>
          <p:cNvPicPr>
            <a:picLocks noChangeAspect="1"/>
          </p:cNvPicPr>
          <p:nvPr/>
        </p:nvPicPr>
        <p:blipFill>
          <a:blip r:embed="rId3"/>
          <a:srcRect t="41" b="41"/>
          <a:stretch/>
        </p:blipFill>
        <p:spPr>
          <a:xfrm>
            <a:off x="-15875" y="2184400"/>
            <a:ext cx="12278360" cy="84264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六大模块架构与职责边界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Image 3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405" y="2537460"/>
            <a:ext cx="661035" cy="661035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705" y="1831340"/>
            <a:ext cx="661035" cy="661035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8485" y="2629535"/>
            <a:ext cx="661035" cy="661035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813441" y="262974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0"/>
          <p:cNvSpPr/>
          <p:nvPr/>
        </p:nvSpPr>
        <p:spPr>
          <a:xfrm>
            <a:off x="1813441" y="262974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723100" y="3306353"/>
            <a:ext cx="3338973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AEEFB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全局导航与工具模块实现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45277" y="3614130"/>
            <a:ext cx="3090592" cy="26271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处理输入、时间戳、回收站初始化、元数据读写</a:t>
            </a:r>
            <a:endParaRPr lang="en-US" altLang="zh-CN" sz="1400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safe_input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input_multiline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get_timestamp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ensure_recycle_bin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load_recycle_meta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  <a:r>
              <a:rPr lang="zh-CN" alt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、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`</a:t>
            </a:r>
            <a:r>
              <a:rPr lang="en-US" altLang="zh-CN" sz="1400" dirty="0" err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save_recycle_meta</a:t>
            </a:r>
            <a:r>
              <a:rPr lang="en-US" altLang="zh-CN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()`</a:t>
            </a:r>
          </a:p>
        </p:txBody>
      </p:sp>
      <p:sp>
        <p:nvSpPr>
          <p:cNvPr id="22" name="Shape 13"/>
          <p:cNvSpPr/>
          <p:nvPr/>
        </p:nvSpPr>
        <p:spPr>
          <a:xfrm>
            <a:off x="5356741" y="192362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4"/>
          <p:cNvSpPr/>
          <p:nvPr/>
        </p:nvSpPr>
        <p:spPr>
          <a:xfrm>
            <a:off x="5356741" y="192362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4582055" y="2823847"/>
            <a:ext cx="33389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核心业务处理层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4499994" y="3186811"/>
            <a:ext cx="3090592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文件操作模块与目录操作模块分别封装增删改移和树形展示能力，搜索统计模块实现通配符匹配与内容检索。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9565521" y="2721818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8"/>
          <p:cNvSpPr/>
          <p:nvPr/>
        </p:nvSpPr>
        <p:spPr>
          <a:xfrm>
            <a:off x="9565521" y="2721818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129927" y="3555367"/>
            <a:ext cx="333897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安全与调度层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8047866" y="3905631"/>
            <a:ext cx="3090592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回收站管理模块实现软删除与还原机制，主菜单调度模块作为系统入口承担菜单展示与功能分发职责。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" name="Image 6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9FAA9081-9D9A-3CC7-B196-D446199FC9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63955" y="533400"/>
            <a:ext cx="355600" cy="304800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F594BA23-7D1D-83A8-057C-A70362376F16}"/>
              </a:ext>
            </a:extLst>
          </p:cNvPr>
          <p:cNvSpPr/>
          <p:nvPr/>
        </p:nvSpPr>
        <p:spPr>
          <a:xfrm flipH="1">
            <a:off x="1974215" y="73850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65DADCD-DFA9-3AF1-0039-B7D612388A70}"/>
              </a:ext>
            </a:extLst>
          </p:cNvPr>
          <p:cNvSpPr/>
          <p:nvPr/>
        </p:nvSpPr>
        <p:spPr>
          <a:xfrm flipH="1">
            <a:off x="1845945" y="73850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67121920-9F03-7FDA-5784-B9BC6BC50E9F}"/>
              </a:ext>
            </a:extLst>
          </p:cNvPr>
          <p:cNvSpPr/>
          <p:nvPr/>
        </p:nvSpPr>
        <p:spPr>
          <a:xfrm flipH="1">
            <a:off x="1714500" y="738505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80D9552-D2F0-C8B7-3CB2-3046AF751A99}"/>
              </a:ext>
            </a:extLst>
          </p:cNvPr>
          <p:cNvSpPr/>
          <p:nvPr/>
        </p:nvSpPr>
        <p:spPr>
          <a:xfrm flipH="1">
            <a:off x="1583690" y="738505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核心技术知识解析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blurRad="50800" dist="26941" dir="2700000" algn="bl" rotWithShape="0">
              <a:srgbClr val="754412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8-d2t756lnfo2stf9diihg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312420" y="1460500"/>
            <a:ext cx="11003280" cy="18072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路径解析与目录管理策略</a:t>
            </a:r>
            <a:endParaRPr lang="en-US" sz="1600" dirty="0"/>
          </a:p>
        </p:txBody>
      </p:sp>
      <p:pic>
        <p:nvPicPr>
          <p:cNvPr id="14" name="Image 3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545" y="2853055"/>
            <a:ext cx="661035" cy="661035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10" y="2287270"/>
            <a:ext cx="661035" cy="661035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1170305"/>
            <a:ext cx="661035" cy="661035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2190592" y="2945338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0"/>
          <p:cNvSpPr/>
          <p:nvPr/>
        </p:nvSpPr>
        <p:spPr>
          <a:xfrm>
            <a:off x="2190592" y="2945338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980435" y="3709885"/>
            <a:ext cx="314591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全局工作目录维护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900224" y="4006452"/>
            <a:ext cx="3360880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通过current_dir变量统一管理当前工作目录，初始值由os.getcwd()获取，用户可通过主菜单动态切换，消除重复路径询问。</a:t>
            </a:r>
            <a:endParaRPr lang="en-US" sz="1600" dirty="0"/>
          </a:p>
        </p:txBody>
      </p:sp>
      <p:sp>
        <p:nvSpPr>
          <p:cNvPr id="22" name="Shape 13"/>
          <p:cNvSpPr/>
          <p:nvPr/>
        </p:nvSpPr>
        <p:spPr>
          <a:xfrm>
            <a:off x="4806605" y="237955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4"/>
          <p:cNvSpPr/>
          <p:nvPr/>
        </p:nvSpPr>
        <p:spPr>
          <a:xfrm>
            <a:off x="4806605" y="237955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4577208" y="3404417"/>
            <a:ext cx="314591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路径类型智能判断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4482425" y="3688164"/>
            <a:ext cx="3360880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使用os.path.isabs()识别绝对路径与相对路径，相对路径通过os.path.join()拼接，确保路径解析的一致性与准确性。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9546245" y="1262588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8"/>
          <p:cNvSpPr/>
          <p:nvPr/>
        </p:nvSpPr>
        <p:spPr>
          <a:xfrm>
            <a:off x="9546245" y="1262588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202723" y="2675838"/>
            <a:ext cx="317721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目标存在性与类型校验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105303" y="2956208"/>
            <a:ext cx="3360880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os.path.exists()校验目标存在性，os.path.isdir()与os.path.isfile()区分文件与目录，避免操作对象错误导致异常。</a:t>
            </a:r>
            <a:endParaRPr lang="en-US" sz="1600" dirty="0"/>
          </a:p>
        </p:txBody>
      </p:sp>
      <p:pic>
        <p:nvPicPr>
          <p:cNvPr id="30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48113940-1794-0587-5826-DAACE074D9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591A4DE2-7AE3-FDAE-05DF-335CB52249D7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850F03B3-A48D-0E19-BB1A-B88A43D99F4A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D40677C4-4281-7F34-406A-6E59FF93FA6A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A2F9B3EC-FC3B-20F6-8085-E68F844D2605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9-d2t756tnfo2stf9diiog.png"/>
          <p:cNvPicPr>
            <a:picLocks noChangeAspect="1"/>
          </p:cNvPicPr>
          <p:nvPr/>
        </p:nvPicPr>
        <p:blipFill>
          <a:blip r:embed="rId3"/>
          <a:srcRect l="4" r="4"/>
          <a:stretch/>
        </p:blipFill>
        <p:spPr>
          <a:xfrm>
            <a:off x="830284" y="1724989"/>
            <a:ext cx="10819501" cy="469152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24640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11052814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11183828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11314843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文件操作与目录处理技术栈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9-05-13:18:19-d2t756tnfo2stf9diip0.png"/>
          <p:cNvPicPr>
            <a:picLocks noChangeAspect="1"/>
          </p:cNvPicPr>
          <p:nvPr/>
        </p:nvPicPr>
        <p:blipFill>
          <a:blip r:embed="rId4"/>
          <a:srcRect l="-4144" t="-5267" r="-4825" b="-6938"/>
          <a:stretch/>
        </p:blipFill>
        <p:spPr>
          <a:xfrm>
            <a:off x="4821555" y="2451100"/>
            <a:ext cx="2596515" cy="2605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6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7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8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9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4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5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6531" y="1824315"/>
            <a:ext cx="342970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os模块基础能力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63021" y="2188564"/>
            <a:ext cx="4329926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负责路径判断、目录创建、重命名和元属性获取，os.makedirs()确保父目录存在，os.rename()实现同名更改。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76531" y="4305260"/>
            <a:ext cx="342970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shutil模块高级操作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63021" y="4658079"/>
            <a:ext cx="4329926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提供复制、移动、递归删除能力，copy2()保留元数据，copytree()递归复制目录树，move()统一处理文件与目录移动。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68291" y="1831173"/>
            <a:ext cx="342970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文件创建流程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164786" y="2189072"/>
            <a:ext cx="4329926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先以makedirs()创建父目录，再通过open()写入内容，形成路径保障与内容写入的完整闭环。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268291" y="4302466"/>
            <a:ext cx="342970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跨平台兼容性保障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164786" y="4658460"/>
            <a:ext cx="4329926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合理选择底层API组合，在功能完整性与实现简洁性之间取得平衡，确保Windows与Linux环境下的稳定运行。</a:t>
            </a:r>
            <a:endParaRPr lang="en-US" sz="1600" dirty="0"/>
          </a:p>
        </p:txBody>
      </p:sp>
      <p:pic>
        <p:nvPicPr>
          <p:cNvPr id="29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848FC7B8-1349-6D47-EE7D-6DF6F96206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0" name="Shape 5">
            <a:extLst>
              <a:ext uri="{FF2B5EF4-FFF2-40B4-BE49-F238E27FC236}">
                <a16:creationId xmlns:a16="http://schemas.microsoft.com/office/drawing/2014/main" id="{A969CD22-A1BE-792F-7D93-0673C4590D5A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8FE1AB4F-B14B-A522-C632-0B1CD9982495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EE187EC5-8A43-426C-BBD3-017708B806E4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C71C1DAF-D800-64A2-704A-5128C6A134BD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6-d2t7565nfo2stf9dii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10" y="4097655"/>
            <a:ext cx="7315200" cy="189611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3:18:16-d2t7565nfo2stf9dii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175" y="1863725"/>
            <a:ext cx="7315200" cy="189611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3" descr="https://kimi-img.moonshot.cn/pub/slides/slides_tmpl/image/25-09-05-13:18:16-d2t7565nfo2stf9dii80.png"/>
          <p:cNvPicPr>
            <a:picLocks noChangeAspect="1"/>
          </p:cNvPicPr>
          <p:nvPr/>
        </p:nvPicPr>
        <p:blipFill>
          <a:blip r:embed="rId4"/>
          <a:srcRect l="3574" r="3574"/>
          <a:stretch/>
        </p:blipFill>
        <p:spPr>
          <a:xfrm>
            <a:off x="1756190" y="4097938"/>
            <a:ext cx="3124200" cy="18923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5-13:18:17-d2t756dnfo2stf9diia0.png"/>
          <p:cNvPicPr>
            <a:picLocks noChangeAspect="1"/>
          </p:cNvPicPr>
          <p:nvPr/>
        </p:nvPicPr>
        <p:blipFill>
          <a:blip r:embed="rId5"/>
          <a:srcRect t="20112" b="20112"/>
          <a:stretch/>
        </p:blipFill>
        <p:spPr>
          <a:xfrm>
            <a:off x="680870" y="1854716"/>
            <a:ext cx="3124200" cy="1905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回收站元数据与JSON持久化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7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8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9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0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6" descr="https://kimi-img.moonshot.cn/pub/slides/slides_tmpl/image/25-09-05-13:18:16-d2t7565nfo2stf9dii6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2235" y="2217420"/>
            <a:ext cx="223520" cy="321310"/>
          </a:xfrm>
          <a:prstGeom prst="rect">
            <a:avLst/>
          </a:prstGeom>
        </p:spPr>
      </p:pic>
      <p:pic>
        <p:nvPicPr>
          <p:cNvPr id="24" name="Image 7" descr="https://kimi-img.moonshot.cn/pub/slides/slides_tmpl/image/25-09-05-13:18:16-d2t7565nfo2stf9dii6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970" y="4435475"/>
            <a:ext cx="223520" cy="32131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160786" y="2217459"/>
            <a:ext cx="433116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软删除存储架构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4041702" y="2524833"/>
            <a:ext cx="6678322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在用户主目录下创建.recycle_bin文件夹存放被删内容，采用JSON格式维护recycle_meta.json元数据文件，实现文件实体与描述信息的分离存储。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5215521" y="4435514"/>
            <a:ext cx="433116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元数据结构设计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5116830" y="4754245"/>
            <a:ext cx="6678295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每条记录包含原始路径、删除时间和回收站文件名三个字段，设置ensure_ascii=False保证中文路径可读性，indent=2提升文件可维护性，确保还原时精确定位。</a:t>
            </a:r>
            <a:endParaRPr lang="en-US" sz="1600" dirty="0"/>
          </a:p>
        </p:txBody>
      </p:sp>
      <p:pic>
        <p:nvPicPr>
          <p:cNvPr id="29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B6612E94-696C-44F5-B2F7-E0A6CB6E3D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0" name="Shape 5">
            <a:extLst>
              <a:ext uri="{FF2B5EF4-FFF2-40B4-BE49-F238E27FC236}">
                <a16:creationId xmlns:a16="http://schemas.microsoft.com/office/drawing/2014/main" id="{679E865C-1C02-7597-6BE7-26CE546F6E0B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4B67793-CCB0-E62A-346D-3F22D405603A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31CBC7C-A184-9565-2FD2-DC7EB68D6C18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46897D0B-67DE-5BB9-B67D-6A5C8A83BFF7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8-d2t756lnfo2stf9diih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35610" y="2449195"/>
            <a:ext cx="3867785" cy="3244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时间戳命名与状态机交互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5-13:18:18-d2t756lnfo2stf9diih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715250" y="2449195"/>
            <a:ext cx="3867785" cy="3244850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9-05-13:18:18-d2t756lnfo2stf9diih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093210" y="2243455"/>
            <a:ext cx="3867785" cy="324485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552137" y="2222623"/>
            <a:ext cx="1473726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5"/>
          <p:cNvSpPr/>
          <p:nvPr/>
        </p:nvSpPr>
        <p:spPr>
          <a:xfrm>
            <a:off x="1552137" y="2222623"/>
            <a:ext cx="1473726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969974" y="2843314"/>
            <a:ext cx="274618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同名冲突时间戳消解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814387" y="3474102"/>
            <a:ext cx="3057361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通过datetime.now().strftime()生成精确到秒的时间戳，拼接至回收站文件名前，避免重复删除同名文件导致的覆盖问题。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5209737" y="2016883"/>
            <a:ext cx="1473726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9"/>
          <p:cNvSpPr/>
          <p:nvPr/>
        </p:nvSpPr>
        <p:spPr>
          <a:xfrm>
            <a:off x="5209737" y="2016883"/>
            <a:ext cx="147372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4627574" y="2637574"/>
            <a:ext cx="274618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元数据驱动还原机制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471987" y="3268362"/>
            <a:ext cx="3057361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还原时依据JSON中的original_path字段恢复原始位置，不受回收站文件名变化影响，保障路径恢复的准确性。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8831777" y="2222623"/>
            <a:ext cx="1473726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3"/>
          <p:cNvSpPr/>
          <p:nvPr/>
        </p:nvSpPr>
        <p:spPr>
          <a:xfrm>
            <a:off x="8831777" y="2222623"/>
            <a:ext cx="1473726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249614" y="2843314"/>
            <a:ext cx="274618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多步骤状态机控制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094027" y="3474102"/>
            <a:ext cx="3057361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引入step变量实现简易状态机，每个步骤对应独立处理逻辑，输入b递减step返回上一步，输入0触发MAIN_MENU哨兵穿透至主菜单。</a:t>
            </a:r>
            <a:endParaRPr lang="en-US" sz="1600" dirty="0"/>
          </a:p>
        </p:txBody>
      </p:sp>
      <p:pic>
        <p:nvPicPr>
          <p:cNvPr id="34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F9CF33D8-47C3-D120-E966-7DA7A72E9C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5" name="Shape 5">
            <a:extLst>
              <a:ext uri="{FF2B5EF4-FFF2-40B4-BE49-F238E27FC236}">
                <a16:creationId xmlns:a16="http://schemas.microsoft.com/office/drawing/2014/main" id="{182162E9-AC44-F13F-BF34-05239009989E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859EF06B-4BCC-A97A-7491-CCC872B6D36C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98FD5578-B8FB-D76B-BC0B-481F7730F7D2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F2355BE8-4C63-C5AD-C7FE-D95A48C637EC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设计重点与工程价值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blurRad="50800" dist="26941" dir="2700000" algn="bl" rotWithShape="0">
              <a:srgbClr val="754412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184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统一导航与回收站安全机制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3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3:18:15-d2t755tnfo2stf9dii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345" y="2266315"/>
            <a:ext cx="1059815" cy="1059815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5-13:18:15-d2t755tnfo2stf9dii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155" y="4371975"/>
            <a:ext cx="1059815" cy="105981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259205" y="2461895"/>
            <a:ext cx="749300" cy="6426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1"/>
          <p:cNvSpPr/>
          <p:nvPr/>
        </p:nvSpPr>
        <p:spPr>
          <a:xfrm>
            <a:off x="1259205" y="2461895"/>
            <a:ext cx="7493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2257054" y="2300337"/>
            <a:ext cx="393992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全局统一输入封装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169006" y="2596556"/>
            <a:ext cx="7188127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将分散的input()逻辑封装为safe_input()函数，在所有模块中复用，实现0返回主菜单、b返回上一步的一致导航，新增转义规则仅需修改单一函数即可全系统生效。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3470593" y="4567555"/>
            <a:ext cx="662940" cy="6426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5"/>
          <p:cNvSpPr/>
          <p:nvPr/>
        </p:nvSpPr>
        <p:spPr>
          <a:xfrm>
            <a:off x="3470593" y="4567555"/>
            <a:ext cx="66294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15757" y="4374655"/>
            <a:ext cx="391835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软删除安全流程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413250" y="4671695"/>
            <a:ext cx="6773545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删除前校验目标类型与存在性，移动时生成时间戳文件名避免冲突，同步写入JSON元数据保障可追溯性，将数据安全内置于操作流程而非依赖用户谨慎。</a:t>
            </a:r>
            <a:endParaRPr lang="en-US" sz="1600" dirty="0"/>
          </a:p>
        </p:txBody>
      </p:sp>
      <p:pic>
        <p:nvPicPr>
          <p:cNvPr id="25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3F317EF5-6FA5-6579-8B2C-D990DE62D8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26" name="Shape 5">
            <a:extLst>
              <a:ext uri="{FF2B5EF4-FFF2-40B4-BE49-F238E27FC236}">
                <a16:creationId xmlns:a16="http://schemas.microsoft.com/office/drawing/2014/main" id="{DFFF2DA6-AFE1-9FBD-1147-6A9CD060E3B1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A8B523C0-8A32-BAFA-FF0F-4834D5650842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4870C8C-026F-DD72-7F02-B85329ECAA07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F0F4F6A1-5A02-6A96-2119-4C785AA2C4F3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8-d2t756lnfo2stf9di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904105"/>
            <a:ext cx="10161905" cy="158940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3:18:18-d2t756lnfo2stf9di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511935" y="3369945"/>
            <a:ext cx="10161905" cy="158940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3:18:18-d2t756lnfo2stf9di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809750"/>
            <a:ext cx="10161905" cy="15894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4"/>
          <p:cNvSpPr/>
          <p:nvPr/>
        </p:nvSpPr>
        <p:spPr>
          <a:xfrm>
            <a:off x="542215" y="9472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递归处理与元数据一致性</a:t>
            </a:r>
            <a:endParaRPr lang="en-US" sz="1600" dirty="0"/>
          </a:p>
        </p:txBody>
      </p:sp>
      <p:pic>
        <p:nvPicPr>
          <p:cNvPr id="16" name="Image 5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5-13:18:18-d2t756lnfo2stf9dii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35" y="1889760"/>
            <a:ext cx="1207135" cy="1420495"/>
          </a:xfrm>
          <a:prstGeom prst="rect">
            <a:avLst/>
          </a:prstGeom>
        </p:spPr>
      </p:pic>
      <p:pic>
        <p:nvPicPr>
          <p:cNvPr id="18" name="Image 7" descr="https://kimi-img.moonshot.cn/pub/slides/slides_tmpl/image/25-09-05-13:18:18-d2t756lnfo2stf9diii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385" y="3463290"/>
            <a:ext cx="1249680" cy="1420495"/>
          </a:xfrm>
          <a:prstGeom prst="rect">
            <a:avLst/>
          </a:prstGeom>
        </p:spPr>
      </p:pic>
      <p:pic>
        <p:nvPicPr>
          <p:cNvPr id="19" name="Image 8" descr="https://kimi-img.moonshot.cn/pub/slides/slides_tmpl/image/25-09-05-13:18:18-d2t756lnfo2stf9diij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35" y="5019040"/>
            <a:ext cx="1243330" cy="142049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2412629" y="2032866"/>
            <a:ext cx="526883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递归遍历多场景应用</a:t>
            </a:r>
            <a:endParaRPr lang="en-US" sz="1600" dirty="0"/>
          </a:p>
        </p:txBody>
      </p:sp>
      <p:sp>
        <p:nvSpPr>
          <p:cNvPr id="21" name="Text 10"/>
          <p:cNvSpPr/>
          <p:nvPr/>
        </p:nvSpPr>
        <p:spPr>
          <a:xfrm>
            <a:off x="2321345" y="2391810"/>
            <a:ext cx="779622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os.walk()与shutil系列API协同使用，贯穿目录树展示、文件搜索、统计汇总、目录复制及永久删除等场景，优雅处理任意层级目录结构。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3892550" y="3594735"/>
            <a:ext cx="6029325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元数据一致性维护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2147779" y="3862246"/>
            <a:ext cx="779622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删除追加记录、还原移除条目、清空重置空列表、永久删除同步清理文件与记录，严格读写配对避免实体与描述脱节。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2412365" y="5109845"/>
            <a:ext cx="615696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数据完整性保障策略</a:t>
            </a:r>
            <a:endParaRPr lang="en-US" sz="1600" dirty="0"/>
          </a:p>
        </p:txBody>
      </p:sp>
      <p:sp>
        <p:nvSpPr>
          <p:cNvPr id="25" name="Text 14"/>
          <p:cNvSpPr/>
          <p:nvPr/>
        </p:nvSpPr>
        <p:spPr>
          <a:xfrm>
            <a:off x="2321345" y="5400186"/>
            <a:ext cx="7796220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任何环节的遗漏都会导致无法还原或幽灵记录等问题，系统通过严格的操作序列确保JSON描述始终准确反映回收站实际状态。</a:t>
            </a:r>
            <a:endParaRPr lang="en-US" sz="1600" dirty="0"/>
          </a:p>
        </p:txBody>
      </p:sp>
      <p:pic>
        <p:nvPicPr>
          <p:cNvPr id="26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49E8327A-9144-B19F-6383-504F3E2ADA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27" name="Shape 5">
            <a:extLst>
              <a:ext uri="{FF2B5EF4-FFF2-40B4-BE49-F238E27FC236}">
                <a16:creationId xmlns:a16="http://schemas.microsoft.com/office/drawing/2014/main" id="{BDB525F1-D00E-F5C0-E6A3-D20DA7E6EDC8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1A11B04D-3411-63BC-D2CC-36431780AF76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2309FCA5-E280-2650-405A-7E535E1C93BF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98313AF3-50AC-1ED5-F0C9-1D4FF79A1F26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技术难点与突破方案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blurRad="50800" dist="26941" dir="2700000" algn="bl" rotWithShape="0">
              <a:srgbClr val="754412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5-d2t755tnfo2stf9dii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05" y="4036695"/>
            <a:ext cx="7054215" cy="192151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3:18:15-d2t755tnfo2stf9dii3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140" y="1983740"/>
            <a:ext cx="7277735" cy="188087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3:18:16-d2t7565nfo2stf9dii50.png"/>
          <p:cNvPicPr>
            <a:picLocks noChangeAspect="1"/>
          </p:cNvPicPr>
          <p:nvPr/>
        </p:nvPicPr>
        <p:blipFill>
          <a:blip r:embed="rId5"/>
          <a:srcRect t="9503" b="9503"/>
          <a:stretch/>
        </p:blipFill>
        <p:spPr>
          <a:xfrm>
            <a:off x="1007418" y="1979809"/>
            <a:ext cx="3120319" cy="189589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 flipH="1">
            <a:off x="114513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1"/>
          <p:cNvSpPr/>
          <p:nvPr/>
        </p:nvSpPr>
        <p:spPr>
          <a:xfrm flipH="1">
            <a:off x="11323146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2"/>
          <p:cNvSpPr/>
          <p:nvPr/>
        </p:nvSpPr>
        <p:spPr>
          <a:xfrm flipH="1">
            <a:off x="111921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/>
        </p:nvSpPr>
        <p:spPr>
          <a:xfrm flipH="1">
            <a:off x="110611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/>
        </p:nvSpPr>
        <p:spPr>
          <a:xfrm>
            <a:off x="3442970" y="3141980"/>
            <a:ext cx="684530" cy="6769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5"/>
          <p:cNvSpPr/>
          <p:nvPr/>
        </p:nvSpPr>
        <p:spPr>
          <a:xfrm>
            <a:off x="3442970" y="3141980"/>
            <a:ext cx="684530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8224660" y="5124096"/>
            <a:ext cx="1782539" cy="8873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8224660" y="5124096"/>
            <a:ext cx="1782539" cy="8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4" descr="https://kimi-img.moonshot.cn/pub/slides/slides_tmpl/image/25-09-05-13:18:15-d2t755tnfo2stf9dii4g.png"/>
          <p:cNvPicPr>
            <a:picLocks noChangeAspect="1"/>
          </p:cNvPicPr>
          <p:nvPr/>
        </p:nvPicPr>
        <p:blipFill>
          <a:blip r:embed="rId6"/>
          <a:srcRect l="4452" r="4452"/>
          <a:stretch/>
        </p:blipFill>
        <p:spPr>
          <a:xfrm>
            <a:off x="8071813" y="4028147"/>
            <a:ext cx="3120319" cy="192667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164596" y="4037013"/>
            <a:ext cx="1782539" cy="6769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9"/>
          <p:cNvSpPr/>
          <p:nvPr/>
        </p:nvSpPr>
        <p:spPr>
          <a:xfrm>
            <a:off x="8164596" y="4037013"/>
            <a:ext cx="1782539" cy="6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导航穿透与状态回溯实现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2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3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4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5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5" descr="https://kimi-img.moonshot.cn/pub/slides/slides_tmpl/image/25-09-05-13:18:13-d2t755dnfo2stf9di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5310" y="2242820"/>
            <a:ext cx="290195" cy="321310"/>
          </a:xfrm>
          <a:prstGeom prst="rect">
            <a:avLst/>
          </a:prstGeom>
        </p:spPr>
      </p:pic>
      <p:pic>
        <p:nvPicPr>
          <p:cNvPr id="24" name="Image 6" descr="https://kimi-img.moonshot.cn/pub/slides/slides_tmpl/image/25-09-05-13:18:13-d2t755dnfo2stf9di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110" y="4296410"/>
            <a:ext cx="290195" cy="321310"/>
          </a:xfrm>
          <a:prstGeom prst="rect">
            <a:avLst/>
          </a:prstGeom>
        </p:spPr>
      </p:pic>
      <p:pic>
        <p:nvPicPr>
          <p:cNvPr id="25" name="Image 7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8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774349" y="2243043"/>
            <a:ext cx="479014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B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多层调用导航穿透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4385045" y="2564022"/>
            <a:ext cx="6678322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深层功能中用户输入0需直接返回主菜单，系统以MAIN_MENU哨兵对象作为特殊返回值，逐层向上传递直至主菜单重新接管流程，实现导航穿透而不破坏调用结构。</a:t>
            </a:r>
            <a:endParaRPr lang="en-US" sz="1600" dirty="0"/>
          </a:p>
        </p:txBody>
      </p:sp>
      <p:sp>
        <p:nvSpPr>
          <p:cNvPr id="33" name="Text 22"/>
          <p:cNvSpPr/>
          <p:nvPr/>
        </p:nvSpPr>
        <p:spPr>
          <a:xfrm>
            <a:off x="1523149" y="4296633"/>
            <a:ext cx="479014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B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状态机回溯机制</a:t>
            </a:r>
            <a:endParaRPr lang="en-US" sz="1600" dirty="0"/>
          </a:p>
        </p:txBody>
      </p:sp>
      <p:sp>
        <p:nvSpPr>
          <p:cNvPr id="34" name="Text 23"/>
          <p:cNvSpPr/>
          <p:nvPr/>
        </p:nvSpPr>
        <p:spPr>
          <a:xfrm>
            <a:off x="1083468" y="4595598"/>
            <a:ext cx="6678322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以while True循环包裹步骤分支，通过step变量标记当前状态，输入b时调整step值重新进入对应分支，在不破坏函数调用栈的前提下完成状态回溯。</a:t>
            </a:r>
            <a:endParaRPr lang="en-US" sz="1600" dirty="0"/>
          </a:p>
        </p:txBody>
      </p:sp>
      <p:pic>
        <p:nvPicPr>
          <p:cNvPr id="35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08BB286D-AF7A-3F59-1E86-D7449D5B06E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6" name="Shape 5">
            <a:extLst>
              <a:ext uri="{FF2B5EF4-FFF2-40B4-BE49-F238E27FC236}">
                <a16:creationId xmlns:a16="http://schemas.microsoft.com/office/drawing/2014/main" id="{A9EC1528-A1B1-99CC-5E23-F17849461C66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A090979B-7A7F-C8A1-6F8D-713433FC547A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4C61AAEB-2E48-A2F0-47BA-C5D47C5D1D7B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69D8848D-F422-415E-22D3-29D7FDCA80F5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9-d2t756tnfo2stf9diirg.png"/>
          <p:cNvPicPr>
            <a:picLocks noChangeAspect="1"/>
          </p:cNvPicPr>
          <p:nvPr/>
        </p:nvPicPr>
        <p:blipFill>
          <a:blip r:embed="rId3"/>
          <a:srcRect t="97" b="97"/>
          <a:stretch/>
        </p:blipFill>
        <p:spPr>
          <a:xfrm>
            <a:off x="455930" y="1642745"/>
            <a:ext cx="11389995" cy="32791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输入冲突消解与健壮性保障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89604" y="2437560"/>
            <a:ext cx="38656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转义规则释放特殊字符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08274" y="2735448"/>
            <a:ext cx="5155235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引入反斜杠0与反斜杠b转义规则，safe_input()将其转换为普通字符串返回，既保留快捷导航又释放特殊字符的正常语义。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89604" y="4760136"/>
            <a:ext cx="38656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异常分层捕获策略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08274" y="5058024"/>
            <a:ext cx="5155235" cy="10514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关键路径设置try-except捕获路径不存在、权限不足等异常，对耗时操作额外捕获KeyboardInterrupt，允许用户安全中断而非强制退出。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26899" y="2437560"/>
            <a:ext cx="38656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编码兼容性处理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37405" y="2735448"/>
            <a:ext cx="5155235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文件内容搜索时采用errors=ignore策略跳过无法解码的字符，避免二进制文件或异编码文本导致程序崩溃。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26899" y="4760136"/>
            <a:ext cx="386562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防御式编程理念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237405" y="5058024"/>
            <a:ext cx="5155235" cy="731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充分考虑外部资源的不可预期性，通过多层防护确保系统在面对异常环境时的稳定运行，提升用户体验与系统可靠性。</a:t>
            </a:r>
            <a:endParaRPr lang="en-US" sz="1600" dirty="0"/>
          </a:p>
        </p:txBody>
      </p:sp>
      <p:pic>
        <p:nvPicPr>
          <p:cNvPr id="22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972E8F01-6CBA-83FD-D53D-DC793D5B24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23" name="Shape 5">
            <a:extLst>
              <a:ext uri="{FF2B5EF4-FFF2-40B4-BE49-F238E27FC236}">
                <a16:creationId xmlns:a16="http://schemas.microsoft.com/office/drawing/2014/main" id="{58ACB2C3-175A-2145-F4E1-6EAF322F50A0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6449C151-E988-AFB5-CEFC-006EA69EE040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EC8BC9D1-7824-044A-5744-BE4A2A6D9480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30CAB8BA-645B-5EAC-D97A-212BFE3098E6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关键模块实现揭秘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blurRad="50800" dist="26941" dir="2700000" algn="bl" rotWithShape="0">
              <a:srgbClr val="754412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542215" y="2826876"/>
            <a:ext cx="3569045" cy="12571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全局工具与文件操作函数实现</a:t>
            </a:r>
            <a:endParaRPr lang="en-US" sz="1600" dirty="0"/>
          </a:p>
        </p:txBody>
      </p:sp>
      <p:pic>
        <p:nvPicPr>
          <p:cNvPr id="11" name="Image 3" descr="https://kimi-img.moonshot.cn/pub/slides/slides_tmpl/image/25-09-05-13:18:12-d2t7555nfo2stf9dihp0.png"/>
          <p:cNvPicPr>
            <a:picLocks noChangeAspect="1"/>
          </p:cNvPicPr>
          <p:nvPr/>
        </p:nvPicPr>
        <p:blipFill>
          <a:blip r:embed="rId3"/>
          <a:srcRect t="982" b="982"/>
          <a:stretch/>
        </p:blipFill>
        <p:spPr>
          <a:xfrm flipH="1" flipV="1">
            <a:off x="681355" y="2407285"/>
            <a:ext cx="355600" cy="3048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 flipH="1">
            <a:off x="1491615" y="261239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7"/>
          <p:cNvSpPr/>
          <p:nvPr/>
        </p:nvSpPr>
        <p:spPr>
          <a:xfrm flipH="1">
            <a:off x="1363345" y="261239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8"/>
          <p:cNvSpPr/>
          <p:nvPr/>
        </p:nvSpPr>
        <p:spPr>
          <a:xfrm flipH="1">
            <a:off x="1231900" y="2612390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9"/>
          <p:cNvSpPr/>
          <p:nvPr/>
        </p:nvSpPr>
        <p:spPr>
          <a:xfrm flipH="1">
            <a:off x="1101090" y="261239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4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17" name="Image 5" descr="https://kimi-img.moonshot.cn/pub/slides/slides_tmpl/image/25-09-05-13:18:18-d2t756lnfo2stf9diik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210" y="998220"/>
            <a:ext cx="932180" cy="932180"/>
          </a:xfrm>
          <a:prstGeom prst="rect">
            <a:avLst/>
          </a:prstGeom>
        </p:spPr>
      </p:pic>
      <p:pic>
        <p:nvPicPr>
          <p:cNvPr id="18" name="Image 6" descr="https://kimi-img.moonshot.cn/pub/slides/slides_tmpl/image/25-09-05-13:18:18-d2t756lnfo2stf9diik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3012440"/>
            <a:ext cx="932180" cy="932180"/>
          </a:xfrm>
          <a:prstGeom prst="rect">
            <a:avLst/>
          </a:prstGeom>
        </p:spPr>
      </p:pic>
      <p:pic>
        <p:nvPicPr>
          <p:cNvPr id="19" name="Image 7" descr="https://kimi-img.moonshot.cn/pub/slides/slides_tmpl/image/25-09-05-13:18:18-d2t756lnfo2stf9diik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145" y="4868545"/>
            <a:ext cx="932180" cy="93218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484049" y="1140644"/>
            <a:ext cx="659061" cy="6087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1"/>
          <p:cNvSpPr/>
          <p:nvPr/>
        </p:nvSpPr>
        <p:spPr>
          <a:xfrm>
            <a:off x="4484049" y="1140644"/>
            <a:ext cx="659061" cy="60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5467550" y="1040364"/>
            <a:ext cx="526883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哨兵对象与输入封装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5376266" y="1440456"/>
            <a:ext cx="5828116" cy="5940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定义BACK和MAIN_MENU哨兵对象，safe_input()统一处理导航命令，input_multiline()支持多行内容采集，确保交互逻辑的标准化。</a:t>
            </a:r>
            <a:endParaRPr lang="en-US" sz="1600" dirty="0"/>
          </a:p>
        </p:txBody>
      </p:sp>
      <p:sp>
        <p:nvSpPr>
          <p:cNvPr id="24" name="Shape 14"/>
          <p:cNvSpPr/>
          <p:nvPr/>
        </p:nvSpPr>
        <p:spPr>
          <a:xfrm>
            <a:off x="4924180" y="3154864"/>
            <a:ext cx="659061" cy="6087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5"/>
          <p:cNvSpPr/>
          <p:nvPr/>
        </p:nvSpPr>
        <p:spPr>
          <a:xfrm>
            <a:off x="4924180" y="3154864"/>
            <a:ext cx="659061" cy="60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6018879" y="2855717"/>
            <a:ext cx="526883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回收站基础设施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5927595" y="3250296"/>
            <a:ext cx="5828116" cy="5940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ensure_recycle_bin()保障目录与元数据文件就绪，get_timestamp()生成防冲突文件名，load与save函数实现JSON元数据的可靠读写。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4344984" y="5022140"/>
            <a:ext cx="659061" cy="6087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9"/>
          <p:cNvSpPr/>
          <p:nvPr/>
        </p:nvSpPr>
        <p:spPr>
          <a:xfrm>
            <a:off x="4344984" y="5022140"/>
            <a:ext cx="659061" cy="60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5548232" y="4738305"/>
            <a:ext cx="526883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文件操作核心函数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5456948" y="5147444"/>
            <a:ext cx="5828116" cy="856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create_file()整合路径解析与内容写入，delete_file()实现移动式软删除，rename_file()基于os.rename()完成同目录更名，copy_move_file()运用状态机控制三步交互。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3:18:18-d2t756lnfo2stf9diikg.png"/>
          <p:cNvPicPr>
            <a:picLocks noChangeAspect="1"/>
          </p:cNvPicPr>
          <p:nvPr/>
        </p:nvPicPr>
        <p:blipFill>
          <a:blip r:embed="rId3"/>
          <a:srcRect l="53" r="53"/>
          <a:stretch/>
        </p:blipFill>
        <p:spPr>
          <a:xfrm>
            <a:off x="6269355" y="-34290"/>
            <a:ext cx="5974080" cy="694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目录管理与搜索统计功能实现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https://kimi-img.moonshot.cn/pub/slides/slides_tmpl/image/25-09-05-13:18:13-d2t755dnfo2stf9dihug.png"/>
          <p:cNvPicPr>
            <a:picLocks noChangeAspect="1"/>
          </p:cNvPicPr>
          <p:nvPr/>
        </p:nvPicPr>
        <p:blipFill>
          <a:blip r:embed="rId4"/>
          <a:srcRect t="1969" b="1969"/>
          <a:stretch/>
        </p:blipFill>
        <p:spPr>
          <a:xfrm>
            <a:off x="11453495" y="6134735"/>
            <a:ext cx="186055" cy="207010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5-13:18:16-d2t7565nfo2stf9dii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85" y="2395220"/>
            <a:ext cx="748030" cy="748030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9-05-13:18:16-d2t7565nfo2stf9dii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85" y="2395220"/>
            <a:ext cx="748030" cy="74803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13692" y="2499648"/>
            <a:ext cx="528865" cy="5409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5"/>
          <p:cNvSpPr/>
          <p:nvPr/>
        </p:nvSpPr>
        <p:spPr>
          <a:xfrm>
            <a:off x="713692" y="2499648"/>
            <a:ext cx="528865" cy="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52396" y="3274266"/>
            <a:ext cx="4053511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目录操作实现细节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577383" y="3663293"/>
            <a:ext cx="3627449" cy="1691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create_directory()利用makedirs()的exist_ok参数安全创建多级目录，delete_directory()复用软删除逻辑，traverse_directory()通过os.walk()计算层级差生成树形结构并支持用户中断。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4815792" y="2499648"/>
            <a:ext cx="528865" cy="5409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9"/>
          <p:cNvSpPr/>
          <p:nvPr/>
        </p:nvSpPr>
        <p:spPr>
          <a:xfrm>
            <a:off x="4815792" y="2499648"/>
            <a:ext cx="528865" cy="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4712918" y="3274266"/>
            <a:ext cx="4056104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搜索统计双模式设计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637905" y="3663293"/>
            <a:ext cx="3586780" cy="1691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file_search()提供文件名通配符匹配与内容关键词检索，前者使用glob.fnmatch判断，后者逐行读取标注行号；file_statistics()对文件展示属性，对目录汇总规模，实现双模式信息呈现。</a:t>
            </a:r>
            <a:endParaRPr lang="en-US" sz="1600" dirty="0"/>
          </a:p>
        </p:txBody>
      </p:sp>
      <p:pic>
        <p:nvPicPr>
          <p:cNvPr id="30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C918A36D-779D-80BE-6882-9B9714633F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4ECDFB41-048F-3C97-A005-2126CE723D68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086E5C65-5007-F72F-31B0-A7492724D97C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507D632E-7C8C-C54A-CFA9-09CA577576E3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E7F2D5C3-9D29-3983-763F-4E14DD5AC692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3:18:18-d2t756lnfo2stf9dii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05" y="3467141"/>
            <a:ext cx="1219200" cy="11938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3:18:18-d2t756lnfo2stf9dii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029" y="3288809"/>
            <a:ext cx="9345841" cy="147565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1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3" descr="https://kimi-img.moonshot.cn/pub/slides/slides_tmpl/image/25-09-05-13:18:18-d2t756lnfo2stf9dii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41" y="1694951"/>
            <a:ext cx="9345841" cy="1475659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3:18:18-d2t756lnfo2stf9dii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053" y="4889711"/>
            <a:ext cx="9345841" cy="1475659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3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4"/>
          <p:cNvSpPr/>
          <p:nvPr/>
        </p:nvSpPr>
        <p:spPr>
          <a:xfrm>
            <a:off x="542215" y="9218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回收站管理与主调度循环实现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6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7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8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9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6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15" y="2101850"/>
            <a:ext cx="661035" cy="66103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1490" y="3695700"/>
            <a:ext cx="661035" cy="661035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9-05-13:18:17-d2t756dnfo2stf9dii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50" y="5332730"/>
            <a:ext cx="661035" cy="661035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877451" y="219413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5"/>
          <p:cNvSpPr/>
          <p:nvPr/>
        </p:nvSpPr>
        <p:spPr>
          <a:xfrm>
            <a:off x="877451" y="219413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16"/>
          <p:cNvSpPr/>
          <p:nvPr/>
        </p:nvSpPr>
        <p:spPr>
          <a:xfrm>
            <a:off x="1599543" y="1884932"/>
            <a:ext cx="526883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回收站四级功能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1508259" y="2212649"/>
            <a:ext cx="7796220" cy="9101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list_recycle_bin()读取JSON展示记录，restore_from_recycle()验证冲突后安全移回，empty_recycle_bin()二次确认后批量清理，permanent_delete_from_recycle()提供单项精细控制。</a:t>
            </a:r>
            <a:endParaRPr lang="en-US" sz="1600" dirty="0"/>
          </a:p>
        </p:txBody>
      </p:sp>
      <p:sp>
        <p:nvSpPr>
          <p:cNvPr id="29" name="Shape 18"/>
          <p:cNvSpPr/>
          <p:nvPr/>
        </p:nvSpPr>
        <p:spPr>
          <a:xfrm>
            <a:off x="1858526" y="378798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19"/>
          <p:cNvSpPr/>
          <p:nvPr/>
        </p:nvSpPr>
        <p:spPr>
          <a:xfrm>
            <a:off x="1858526" y="378798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0"/>
          <p:cNvSpPr/>
          <p:nvPr/>
        </p:nvSpPr>
        <p:spPr>
          <a:xfrm>
            <a:off x="2552033" y="3457294"/>
            <a:ext cx="486849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元数据同步机制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2460749" y="3785011"/>
            <a:ext cx="7796220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每项操作后严格同步更新JSON元数据，删除记录、还原移除、清空重置，确保文件实体与描述信息始终一致。</a:t>
            </a:r>
            <a:endParaRPr lang="en-US" sz="1600" dirty="0"/>
          </a:p>
        </p:txBody>
      </p:sp>
      <p:sp>
        <p:nvSpPr>
          <p:cNvPr id="33" name="Shape 22"/>
          <p:cNvSpPr/>
          <p:nvPr/>
        </p:nvSpPr>
        <p:spPr>
          <a:xfrm>
            <a:off x="3227190" y="5425013"/>
            <a:ext cx="467358" cy="4736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3"/>
          <p:cNvSpPr/>
          <p:nvPr/>
        </p:nvSpPr>
        <p:spPr>
          <a:xfrm>
            <a:off x="3227190" y="5425013"/>
            <a:ext cx="467358" cy="47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24"/>
          <p:cNvSpPr/>
          <p:nvPr/>
        </p:nvSpPr>
        <p:spPr>
          <a:xfrm>
            <a:off x="3882681" y="5084451"/>
            <a:ext cx="456369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主菜单闭环调度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3791397" y="5361367"/>
            <a:ext cx="7720665" cy="6371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True循环持续显示功能列表，输出当前工作目录，通过if-elif分支分发11项功能请求，捕获KeyboardInterrupt实现优雅退出，形成分发执行返回的闭环结构。</a:t>
            </a:r>
            <a:endParaRPr lang="en-US" sz="1600" dirty="0"/>
          </a:p>
        </p:txBody>
      </p:sp>
      <p:pic>
        <p:nvPicPr>
          <p:cNvPr id="37" name="Image 3" descr="https://kimi-img.moonshot.cn/pub/slides/slides_tmpl/image/25-09-05-13:18:12-d2t7555nfo2stf9dihp0.png">
            <a:extLst>
              <a:ext uri="{FF2B5EF4-FFF2-40B4-BE49-F238E27FC236}">
                <a16:creationId xmlns:a16="http://schemas.microsoft.com/office/drawing/2014/main" id="{C7B4BDC8-C12B-4343-6ABC-4BF45FE8CA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38" name="Shape 5">
            <a:extLst>
              <a:ext uri="{FF2B5EF4-FFF2-40B4-BE49-F238E27FC236}">
                <a16:creationId xmlns:a16="http://schemas.microsoft.com/office/drawing/2014/main" id="{6AAEA7F6-C7DE-0953-F69F-AE8001FAD6B8}"/>
              </a:ext>
            </a:extLst>
          </p:cNvPr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8B1BA71F-A955-0AA6-7076-30788A89473F}"/>
              </a:ext>
            </a:extLst>
          </p:cNvPr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578BE865-47B2-4BFF-80FF-0B8727A3EB8D}"/>
              </a:ext>
            </a:extLst>
          </p:cNvPr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6AA3F203-B406-EFDC-EAEA-FB36D2071A69}"/>
              </a:ext>
            </a:extLst>
          </p:cNvPr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5982" y="3970158"/>
            <a:ext cx="5685155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实践收获与未来展望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https://kimi-img.moonshot.cn/pub/slides/slides_tmpl/image/25-09-05-13:18:12-d2t7555nfo2stf9dihqg.png"/>
          <p:cNvPicPr>
            <a:picLocks noChangeAspect="1"/>
          </p:cNvPicPr>
          <p:nvPr/>
        </p:nvPicPr>
        <p:blipFill>
          <a:blip r:embed="rId3"/>
          <a:srcRect t="15459" b="15459"/>
          <a:stretch/>
        </p:blipFill>
        <p:spPr>
          <a:xfrm>
            <a:off x="4511040" y="3723012"/>
            <a:ext cx="3657600" cy="12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blurRad="50800" dist="26941" dir="2700000" algn="bl" rotWithShape="0">
              <a:srgbClr val="754412">
                <a:alpha val="4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5116513" y="1632585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10924640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1"/>
          <p:cNvSpPr/>
          <p:nvPr/>
        </p:nvSpPr>
        <p:spPr>
          <a:xfrm>
            <a:off x="11052814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2"/>
          <p:cNvSpPr/>
          <p:nvPr/>
        </p:nvSpPr>
        <p:spPr>
          <a:xfrm>
            <a:off x="11183828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314843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542215" y="980931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项目心得总结与技术演进方向</a:t>
            </a:r>
            <a:endParaRPr lang="en-US" sz="1600" dirty="0"/>
          </a:p>
        </p:txBody>
      </p:sp>
      <p:pic>
        <p:nvPicPr>
          <p:cNvPr id="10" name="Image 3" descr="https://kimi-img.moonshot.cn/pub/slides/slides_tmpl/image/25-09-05-13:18:12-d2t7555nfo2stf9dihp0.png"/>
          <p:cNvPicPr>
            <a:picLocks noChangeAspect="1"/>
          </p:cNvPicPr>
          <p:nvPr/>
        </p:nvPicPr>
        <p:blipFill>
          <a:blip r:embed="rId3"/>
          <a:srcRect t="982" b="982"/>
          <a:stretch/>
        </p:blipFill>
        <p:spPr>
          <a:xfrm flipH="1" flipV="1">
            <a:off x="1115060" y="481017"/>
            <a:ext cx="355600" cy="3048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 flipH="1">
            <a:off x="1925320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6"/>
          <p:cNvSpPr/>
          <p:nvPr/>
        </p:nvSpPr>
        <p:spPr>
          <a:xfrm flipH="1">
            <a:off x="1797050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7"/>
          <p:cNvSpPr/>
          <p:nvPr/>
        </p:nvSpPr>
        <p:spPr>
          <a:xfrm flipH="1">
            <a:off x="1665605" y="686122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8"/>
          <p:cNvSpPr/>
          <p:nvPr/>
        </p:nvSpPr>
        <p:spPr>
          <a:xfrm flipH="1">
            <a:off x="1534795" y="686122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9"/>
          <p:cNvSpPr/>
          <p:nvPr/>
        </p:nvSpPr>
        <p:spPr>
          <a:xfrm>
            <a:off x="602526" y="2215723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602526" y="2215723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00975" y="2827001"/>
            <a:ext cx="20736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标准库协同掌握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03026" y="3404015"/>
            <a:ext cx="2501681" cy="1691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深入掌握os、shutil、json等模块的协同应用，体会面向过程架构在交互密集型程序中的设计优势，巩固Python文件操作基础能力。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3433843" y="2215723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3433843" y="2215723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432292" y="2827001"/>
            <a:ext cx="20736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导航系统工程突破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334343" y="3404015"/>
            <a:ext cx="2501681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哨兵对象与统一输入封装让跨模块导航成为可能，显著提升命令行工具的用户体验，是本次项目最具价值的技术创新。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503615" y="2215723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8"/>
          <p:cNvSpPr/>
          <p:nvPr/>
        </p:nvSpPr>
        <p:spPr>
          <a:xfrm>
            <a:off x="6503615" y="2215723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02064" y="2827001"/>
            <a:ext cx="20736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数据安全意识深化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04115" y="3404015"/>
            <a:ext cx="2501681" cy="13713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回收站功能与JSON元数据管理让团队认识到数据一致性维护的重要性，编码兼容性处理则深化了防御式编程的理解。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9521135" y="2215723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9521135" y="2215723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519584" y="2827001"/>
            <a:ext cx="20736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未来技术演进方向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421635" y="3404015"/>
            <a:ext cx="2501681" cy="1691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计划探索多线程文件复制、压缩解压、批量重命名等进阶功能，持续拓展Python在系统编程领域的应用深度，提升工程实践能力。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98950" y="2420620"/>
            <a:ext cx="7084695" cy="1151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299585" y="1473835"/>
            <a:ext cx="7003415" cy="9467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CAEE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897</TotalTime>
  <Words>896</Words>
  <Application>Microsoft Office PowerPoint</Application>
  <PresentationFormat>宽屏</PresentationFormat>
  <Paragraphs>185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宋体</vt:lpstr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Python文件管理系统：从架构到实现</dc:title>
  <dc:subject>Python文件管理系统：从架构到实现</dc:subject>
  <dc:creator>李震东</dc:creator>
  <cp:lastModifiedBy>Cola Hook</cp:lastModifiedBy>
  <cp:revision>4</cp:revision>
  <dcterms:created xsi:type="dcterms:W3CDTF">2026-06-21T06:15:37Z</dcterms:created>
  <dcterms:modified xsi:type="dcterms:W3CDTF">2026-06-22T04:18:28Z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ython文件管理系统：从架构到实现","ContentProducer":"001191110108MACG2KBH8F10000","ProduceID":"19ee8cd1-6a02-80ce-8000-0000c420f18f","ReservedCode1":"","ContentPropagator":"001191110108MACG2KBH8F20000","PropagateID":"19ee8cd1-6a02-80ce-8000-0000c420f18f","ReservedCode2":""}</vt:lpwstr>
  </property>
</Properties>
</file>